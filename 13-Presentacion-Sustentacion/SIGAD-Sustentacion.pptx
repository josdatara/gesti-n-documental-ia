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2E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172200"/>
            <a:ext cx="12191695" cy="685800"/>
          </a:xfrm>
          <a:prstGeom prst="rect">
            <a:avLst/>
          </a:prstGeom>
          <a:solidFill>
            <a:srgbClr val="0E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6600" b="1">
                <a:solidFill>
                  <a:srgbClr val="FFFFFF"/>
                </a:solidFill>
                <a:latin typeface="Calibri"/>
              </a:rPr>
              <a:t>SIGAD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0632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0">
                <a:solidFill>
                  <a:srgbClr val="F2F3FD"/>
                </a:solidFill>
                <a:latin typeface="Calibri"/>
              </a:rPr>
              <a:t>Sistema de Gestión Documental con Inteligencia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77639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Desarrollo de Aplicaciones Empresariales — 6° semestre
</a:t>
            </a:r>
          </a:p>
          <a:p>
            <a:pPr algn="ctr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alibri"/>
              </a:rPr>
              <a:t>Unidades Tecnológicas de Santander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E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2F3FD"/>
                </a:solidFill>
                <a:latin typeface="Calibri"/>
              </a:rPr>
              <a:t>Contenido de la sustentación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5212080" cy="777240"/>
          </a:xfrm>
          <a:prstGeom prst="rect">
            <a:avLst/>
          </a:prstGeom>
          <a:solidFill>
            <a:srgbClr val="F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627632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312E81"/>
                </a:solidFill>
                <a:latin typeface="Calibri"/>
              </a:rPr>
              <a:t>1. El problema y la oportunidad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423160"/>
            <a:ext cx="5212080" cy="777240"/>
          </a:xfrm>
          <a:prstGeom prst="rect">
            <a:avLst/>
          </a:prstGeom>
          <a:solidFill>
            <a:srgbClr val="F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587752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312E81"/>
                </a:solidFill>
                <a:latin typeface="Calibri"/>
              </a:rPr>
              <a:t>2. Objetivos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83280"/>
            <a:ext cx="5212080" cy="777240"/>
          </a:xfrm>
          <a:prstGeom prst="rect">
            <a:avLst/>
          </a:prstGeom>
          <a:solidFill>
            <a:srgbClr val="F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547872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312E81"/>
                </a:solidFill>
                <a:latin typeface="Calibri"/>
              </a:rPr>
              <a:t>3. Alcance del sistema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343400"/>
            <a:ext cx="5212080" cy="777240"/>
          </a:xfrm>
          <a:prstGeom prst="rect">
            <a:avLst/>
          </a:prstGeom>
          <a:solidFill>
            <a:srgbClr val="F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07992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312E81"/>
                </a:solidFill>
                <a:latin typeface="Calibri"/>
              </a:rPr>
              <a:t>4. Arquitectura tecnológica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5303520"/>
            <a:ext cx="5212080" cy="777240"/>
          </a:xfrm>
          <a:prstGeom prst="rect">
            <a:avLst/>
          </a:prstGeom>
          <a:solidFill>
            <a:srgbClr val="F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468112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312E81"/>
                </a:solidFill>
                <a:latin typeface="Calibri"/>
              </a:rPr>
              <a:t>5. Módulos funcionales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463040"/>
            <a:ext cx="5212080" cy="777240"/>
          </a:xfrm>
          <a:prstGeom prst="rect">
            <a:avLst/>
          </a:prstGeom>
          <a:solidFill>
            <a:srgbClr val="F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1627632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312E81"/>
                </a:solidFill>
                <a:latin typeface="Calibri"/>
              </a:rPr>
              <a:t>6. Motor de IA (RAG)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423160"/>
            <a:ext cx="5212080" cy="777240"/>
          </a:xfrm>
          <a:prstGeom prst="rect">
            <a:avLst/>
          </a:prstGeom>
          <a:solidFill>
            <a:srgbClr val="F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587752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312E81"/>
                </a:solidFill>
                <a:latin typeface="Calibri"/>
              </a:rPr>
              <a:t>7. Seguridad y base de datos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383280"/>
            <a:ext cx="5212080" cy="777240"/>
          </a:xfrm>
          <a:prstGeom prst="rect">
            <a:avLst/>
          </a:prstGeom>
          <a:solidFill>
            <a:srgbClr val="F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547872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312E81"/>
                </a:solidFill>
                <a:latin typeface="Calibri"/>
              </a:rPr>
              <a:t>8. Resultados y pruebas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343400"/>
            <a:ext cx="5212080" cy="777240"/>
          </a:xfrm>
          <a:prstGeom prst="rect">
            <a:avLst/>
          </a:prstGeom>
          <a:solidFill>
            <a:srgbClr val="F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4507992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312E81"/>
                </a:solidFill>
                <a:latin typeface="Calibri"/>
              </a:rPr>
              <a:t>9.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E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2F3FD"/>
                </a:solidFill>
                <a:latin typeface="Calibri"/>
              </a:rPr>
              <a:t>Gestión documental manual y dispersa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E1B4B"/>
                </a:solidFill>
                <a:latin typeface="Calibri"/>
              </a:rPr>
              <a:t>•  </a:t>
            </a:r>
            <a:r>
              <a:rPr sz="2000" b="1">
                <a:solidFill>
                  <a:srgbClr val="1E1B4B"/>
                </a:solidFill>
                <a:latin typeface="Calibri"/>
              </a:rPr>
              <a:t>Búsqueda lenta por nombre o carpeta, sin recuperación semántica.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Clasificación manual de documentos: costosa, inconsistente y propensa a error.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Sin acceso inmediato a respuestas: hay que abrir y leer cada archivo.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Sin trazabilidad ni auditoría de las acciones sobre los documentos.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E1B4B"/>
                </a:solidFill>
                <a:latin typeface="Calibri"/>
              </a:rPr>
              <a:t>•  </a:t>
            </a:r>
            <a:r>
              <a:rPr sz="2000" b="1">
                <a:solidFill>
                  <a:srgbClr val="1E1B4B"/>
                </a:solidFill>
                <a:latin typeface="Calibri"/>
              </a:rPr>
              <a:t>Oportunidad: aplicar IA para clasificar, resumir y responder con fuentes.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E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2F3FD"/>
                </a:solidFill>
                <a:latin typeface="Calibri"/>
              </a:rPr>
              <a:t>General y específicos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5212080" cy="1371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4663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AAFF"/>
                </a:solidFill>
                <a:latin typeface="Calibri"/>
              </a:rPr>
              <a:t>Objetivo general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4663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Construir un sistema web de gestión documental con 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1206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Clasificar automáticamente documentos por categoría con confianza.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Extraer metadatos y resúmenes automáticos.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Buscar documentos por significado (búsqueda semántica).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Responder preguntas con RAG citando las fuentes.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E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Alcance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2F3FD"/>
                </a:solidFill>
                <a:latin typeface="Calibri"/>
              </a:rPr>
              <a:t>Qué incluye 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E1B4B"/>
                </a:solidFill>
                <a:latin typeface="Calibri"/>
              </a:rPr>
              <a:t>•  </a:t>
            </a:r>
            <a:r>
              <a:rPr sz="2000" b="1">
                <a:solidFill>
                  <a:srgbClr val="1E1B4B"/>
                </a:solidFill>
                <a:latin typeface="Calibri"/>
              </a:rPr>
              <a:t>Carga de documentos: PDF, DOCX, TXT, MD y JPG/PNG (máx. 15 MB).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E1B4B"/>
                </a:solidFill>
                <a:latin typeface="Calibri"/>
              </a:rPr>
              <a:t>•  </a:t>
            </a:r>
            <a:r>
              <a:rPr sz="2000" b="1">
                <a:solidFill>
                  <a:srgbClr val="1E1B4B"/>
                </a:solidFill>
                <a:latin typeface="Calibri"/>
              </a:rPr>
              <a:t>Pipeline IA: extracción de texto → chunks → embeddings → clasificación → resumen → metadatos.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Análisis: tablero con KPIs y gráficos por categoría, estado y semana.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Búsqueda semántica + palabras clave y asistente conversacional RAG.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Administración: usuarios con roles, categorías y auditoría.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Exclusiones: firma electrónica, flujos de aprobación externos y OCR fotográfico complejo.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E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Arquitectura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2F3FD"/>
                </a:solidFill>
                <a:latin typeface="Calibri"/>
              </a:rPr>
              <a:t>Frontend + Backend + BD + proveedor 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94560"/>
            <a:ext cx="3383280" cy="13716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React + Vite +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2F3FD"/>
                </a:solidFill>
                <a:latin typeface="Calibri"/>
              </a:rPr>
              <a:t>SPA con diseño responsive y tema claro/oscuro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194560"/>
            <a:ext cx="3383280" cy="137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33172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FastAPI (Python)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92608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2F3FD"/>
                </a:solidFill>
                <a:latin typeface="Calibri"/>
              </a:rPr>
              <a:t>API REST, JWT, motor de IA y pipeline documental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2194560"/>
            <a:ext cx="3383280" cy="1371600"/>
          </a:xfrm>
          <a:prstGeom prst="rect">
            <a:avLst/>
          </a:prstGeom>
          <a:solidFill>
            <a:srgbClr val="312E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33172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MySQL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926080"/>
            <a:ext cx="2926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2F3FD"/>
                </a:solidFill>
                <a:latin typeface="Calibri"/>
              </a:rPr>
              <a:t>Datos estructurados y embeddings como JSON (MEDIUMTEXT)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4206240"/>
            <a:ext cx="7132320" cy="1371600"/>
          </a:xfrm>
          <a:prstGeom prst="rect">
            <a:avLst/>
          </a:prstGeom>
          <a:solidFill>
            <a:srgbClr val="0E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4343400"/>
            <a:ext cx="6675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OpenRouter (IA)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937759"/>
            <a:ext cx="6675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2F3FD"/>
                </a:solidFill>
                <a:latin typeface="Calibri"/>
              </a:rPr>
              <a:t>Chat openrouter/auto + embeddings text-embedding-3-large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E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Módulos funcionales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2F3FD"/>
                </a:solidFill>
                <a:latin typeface="Calibri"/>
              </a:rPr>
              <a:t>Alcance por módulo del sistema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554480"/>
            <a:ext cx="5212080" cy="1325880"/>
          </a:xfrm>
          <a:prstGeom prst="rect">
            <a:avLst/>
          </a:prstGeom>
          <a:solidFill>
            <a:srgbClr val="F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12E81"/>
                </a:solidFill>
                <a:latin typeface="Calibri"/>
              </a:rPr>
              <a:t>1. Autenticación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5B7A"/>
                </a:solidFill>
                <a:latin typeface="Calibri"/>
              </a:rPr>
              <a:t>Login JWT, roles: administrador y analista.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108960"/>
            <a:ext cx="5212080" cy="1325880"/>
          </a:xfrm>
          <a:prstGeom prst="rect">
            <a:avLst/>
          </a:prstGeom>
          <a:solidFill>
            <a:srgbClr val="F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291839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12E81"/>
                </a:solidFill>
                <a:latin typeface="Calibri"/>
              </a:rPr>
              <a:t>2. Tablero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404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5B7A"/>
                </a:solidFill>
                <a:latin typeface="Calibri"/>
              </a:rPr>
              <a:t>KPIs y gráficos del estado de la documentación.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663440"/>
            <a:ext cx="5212080" cy="1325880"/>
          </a:xfrm>
          <a:prstGeom prst="rect">
            <a:avLst/>
          </a:prstGeom>
          <a:solidFill>
            <a:srgbClr val="F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84632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12E81"/>
                </a:solidFill>
                <a:latin typeface="Calibri"/>
              </a:rPr>
              <a:t>3. Documentos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539496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5B7A"/>
                </a:solidFill>
                <a:latin typeface="Calibri"/>
              </a:rPr>
              <a:t>Carga, clasificación, detalle, reclasificación y descarga.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1554480"/>
            <a:ext cx="5212080" cy="1325880"/>
          </a:xfrm>
          <a:prstGeom prst="rect">
            <a:avLst/>
          </a:prstGeom>
          <a:solidFill>
            <a:srgbClr val="F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173736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12E81"/>
                </a:solidFill>
                <a:latin typeface="Calibri"/>
              </a:rPr>
              <a:t>4. Búsqueda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28600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5B7A"/>
                </a:solidFill>
                <a:latin typeface="Calibri"/>
              </a:rPr>
              <a:t>Semántica (vectorial) y por palabras clave.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3108960"/>
            <a:ext cx="5212080" cy="1325880"/>
          </a:xfrm>
          <a:prstGeom prst="rect">
            <a:avLst/>
          </a:prstGeom>
          <a:solidFill>
            <a:srgbClr val="F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3291839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12E81"/>
                </a:solidFill>
                <a:latin typeface="Calibri"/>
              </a:rPr>
              <a:t>5. Asistente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84048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5B7A"/>
                </a:solidFill>
                <a:latin typeface="Calibri"/>
              </a:rPr>
              <a:t>Chat con respuesta generada y fuentes citadas.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4663440"/>
            <a:ext cx="5212080" cy="1325880"/>
          </a:xfrm>
          <a:prstGeom prst="rect">
            <a:avLst/>
          </a:prstGeom>
          <a:solidFill>
            <a:srgbClr val="F2F3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84632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312E81"/>
                </a:solidFill>
                <a:latin typeface="Calibri"/>
              </a:rPr>
              <a:t>6. 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394960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5B7A"/>
                </a:solidFill>
                <a:latin typeface="Calibri"/>
              </a:rPr>
              <a:t>Usuarios, categorías y auditoría de acciones.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E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Motor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2F3FD"/>
                </a:solidFill>
                <a:latin typeface="Calibri"/>
              </a:rPr>
              <a:t>RAG: recuperación aumentada por generación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E1B4B"/>
                </a:solidFill>
                <a:latin typeface="Calibri"/>
              </a:rPr>
              <a:t>•  </a:t>
            </a:r>
            <a:r>
              <a:rPr sz="2000" b="1">
                <a:solidFill>
                  <a:srgbClr val="1E1B4B"/>
                </a:solidFill>
                <a:latin typeface="Calibri"/>
              </a:rPr>
              <a:t>Clasificación por palabras clave con % de confianza (umbral 70%).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Embeddings reales de 3072 dimensiones (text-embedding-3-large).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Chunking del texto y similitud coseno para recuperar fragmentos.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E1B4B"/>
                </a:solidFill>
                <a:latin typeface="Calibri"/>
              </a:rPr>
              <a:t>•  </a:t>
            </a:r>
            <a:r>
              <a:rPr sz="2000" b="1">
                <a:solidFill>
                  <a:srgbClr val="1E1B4B"/>
                </a:solidFill>
                <a:latin typeface="Calibri"/>
              </a:rPr>
              <a:t>Prompt estructurado con citas obligatorias al final de la respuesta.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Fallback multi-proveedor: OpenRouter → Gemini → OpenAI y modo demo sin clave.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Resúmenes y metadatos automáticos por documento.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E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Seguridad y base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2F3FD"/>
                </a:solidFill>
                <a:latin typeface="Calibri"/>
              </a:rPr>
              <a:t>Datos protegidos y trazables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E1B4B"/>
                </a:solidFill>
                <a:latin typeface="Calibri"/>
              </a:rPr>
              <a:t>•  </a:t>
            </a:r>
            <a:r>
              <a:rPr sz="2000" b="1">
                <a:solidFill>
                  <a:srgbClr val="1E1B4B"/>
                </a:solidFill>
                <a:latin typeface="Calibri"/>
              </a:rPr>
              <a:t>Contraseñas con hash pbkdf2_sha256 y tokens JWT de acceso.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Roles: solo el administrador gestiona usuarios, categorías y auditoría.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E1B4B"/>
                </a:solidFill>
                <a:latin typeface="Calibri"/>
              </a:rPr>
              <a:t>•  </a:t>
            </a:r>
            <a:r>
              <a:rPr sz="2000" b="1">
                <a:solidFill>
                  <a:srgbClr val="1E1B4B"/>
                </a:solidFill>
                <a:latin typeface="Calibri"/>
              </a:rPr>
              <a:t>7 entidades: categorias, usuarios, documentos, metadatos_documento, chunks, auditoria y consultas.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Embeddings almacenados como vector JSON (MEDIUMTEXT en MySQL).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Scripts SQL en la carpeta 10 para aprovisionar la base de datos.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64008"/>
          </a:xfrm>
          <a:prstGeom prst="rect">
            <a:avLst/>
          </a:prstGeom>
          <a:solidFill>
            <a:srgbClr val="0E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Resultados y pruebas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2F3FD"/>
                </a:solidFill>
                <a:latin typeface="Calibri"/>
              </a:rPr>
              <a:t>Verificación del sistema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1E1B4B"/>
                </a:solidFill>
                <a:latin typeface="Calibri"/>
              </a:rPr>
              <a:t>•  </a:t>
            </a:r>
            <a:r>
              <a:rPr sz="2000" b="1">
                <a:solidFill>
                  <a:srgbClr val="1E1B4B"/>
                </a:solidFill>
                <a:latin typeface="Calibri"/>
              </a:rPr>
              <a:t>36 documentos de prueba en 5 categorías y 4 formatos (carpeta 11).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Clasificación automática con categorías en MAYÚSCULAS y % de confianza.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1E1B4B"/>
                </a:solidFill>
                <a:latin typeface="Calibri"/>
              </a:rPr>
              <a:t>•  </a:t>
            </a:r>
            <a:r>
              <a:rPr sz="2000" b="1">
                <a:solidFill>
                  <a:srgbClr val="1E1B4B"/>
                </a:solidFill>
                <a:latin typeface="Calibri"/>
              </a:rPr>
              <a:t>10 pruebas automatizadas del backend (pytest) superadas.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Respuestas del asistente con fuentes citadas desde la base documental.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Búsqueda semántica que recupera por significado, no solo palabra exacta.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1E1B4B"/>
                </a:solidFill>
                <a:latin typeface="Calibri"/>
              </a:rPr>
              <a:t>•  </a:t>
            </a:r>
            <a:r>
              <a:rPr sz="2000" b="0">
                <a:solidFill>
                  <a:srgbClr val="1E1B4B"/>
                </a:solidFill>
                <a:latin typeface="Calibri"/>
              </a:rPr>
              <a:t>Construcción de producción del frontend OK (112 módulos).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12E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E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4630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1E1B4B"/>
                </a:solidFill>
                <a:latin typeface="Calibri"/>
              </a:rPr>
              <a:t>•  </a:t>
            </a:r>
            <a:r>
              <a:rPr sz="2000" b="1">
                <a:solidFill>
                  <a:srgbClr val="1E1B4B"/>
                </a:solidFill>
                <a:latin typeface="Calibri"/>
              </a:rPr>
              <a:t>SIGAD centraliza la documentación y reduce el trabajo manual de clasificación.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1E1B4B"/>
                </a:solidFill>
                <a:latin typeface="Calibri"/>
              </a:rPr>
              <a:t>•  </a:t>
            </a:r>
            <a:r>
              <a:rPr sz="2000" b="1">
                <a:solidFill>
                  <a:srgbClr val="1E1B4B"/>
                </a:solidFill>
                <a:latin typeface="Calibri"/>
              </a:rPr>
              <a:t>La búsqueda por significado y el asistente RAG aceleran la consulta de información.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1E1B4B"/>
                </a:solidFill>
                <a:latin typeface="Calibri"/>
              </a:rPr>
              <a:t>•  </a:t>
            </a:r>
            <a:r>
              <a:rPr sz="2000" b="1">
                <a:solidFill>
                  <a:srgbClr val="1E1B4B"/>
                </a:solidFill>
                <a:latin typeface="Calibri"/>
              </a:rPr>
              <a:t>La arquitectura es escalable (Docker, MySQL) y multinube para IA.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1E1B4B"/>
                </a:solidFill>
                <a:latin typeface="Calibri"/>
              </a:rPr>
              <a:t>•  </a:t>
            </a:r>
            <a:r>
              <a:rPr sz="2000" b="1">
                <a:solidFill>
                  <a:srgbClr val="1E1B4B"/>
                </a:solidFill>
                <a:latin typeface="Calibri"/>
              </a:rPr>
              <a:t>Se cumple el objetivo del curso: aplicación empresarial completa y desplegable.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5321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F2F3FD"/>
                </a:solidFill>
                <a:latin typeface="Calibri"/>
              </a:rPr>
              <a:t>¡Gracias!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